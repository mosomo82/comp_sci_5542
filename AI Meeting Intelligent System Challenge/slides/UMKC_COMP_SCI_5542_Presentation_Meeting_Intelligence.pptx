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370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00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91440" cy="68580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058400" y="3246120"/>
            <a:ext cx="64008" cy="36576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68128" y="3108960"/>
            <a:ext cx="64008" cy="64008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277856" y="2926080"/>
            <a:ext cx="64008" cy="100584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387584" y="3017520"/>
            <a:ext cx="64008" cy="82296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97312" y="2788920"/>
            <a:ext cx="64008" cy="128016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0" y="2971800"/>
            <a:ext cx="64008" cy="91440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716768" y="3154680"/>
            <a:ext cx="64008" cy="54864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826496" y="2834640"/>
            <a:ext cx="64008" cy="118872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936224" y="2697480"/>
            <a:ext cx="64008" cy="146304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045952" y="3063240"/>
            <a:ext cx="64008" cy="73152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155680" y="3200400"/>
            <a:ext cx="64008" cy="45720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265408" y="2880360"/>
            <a:ext cx="64008" cy="109728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375136" y="2743200"/>
            <a:ext cx="64008" cy="137160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84864" y="3108960"/>
            <a:ext cx="64008" cy="64008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594592" y="3017520"/>
            <a:ext cx="64008" cy="822960"/>
          </a:xfrm>
          <a:prstGeom prst="rect">
            <a:avLst/>
          </a:prstGeom>
          <a:solidFill>
            <a:srgbClr val="4F8EF7">
              <a:alpha val="70000"/>
            </a:srgbClr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14630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Meeting Intelligence System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777240" y="248716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raw meeting audio into structured summaries,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items, and sentiment insights — with voiced narration.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77240" y="3493008"/>
            <a:ext cx="2286000" cy="347472"/>
          </a:xfrm>
          <a:prstGeom prst="rect">
            <a:avLst/>
          </a:prstGeom>
          <a:solidFill>
            <a:srgbClr val="25254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493008"/>
            <a:ext cx="2286000" cy="347472"/>
          </a:xfrm>
          <a:prstGeom prst="rect">
            <a:avLst/>
          </a:prstGeom>
          <a:solidFill>
            <a:srgbClr val="25254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23560" y="3493008"/>
            <a:ext cx="2286000" cy="347472"/>
          </a:xfrm>
          <a:prstGeom prst="rect">
            <a:avLst/>
          </a:prstGeom>
          <a:solidFill>
            <a:srgbClr val="25254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2356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3493008"/>
            <a:ext cx="2286000" cy="347472"/>
          </a:xfrm>
          <a:prstGeom prst="rect">
            <a:avLst/>
          </a:prstGeom>
          <a:solidFill>
            <a:srgbClr val="25254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0" y="3493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" y="4160520"/>
            <a:ext cx="5303520" cy="141732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8680" y="42519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Tony Nguyen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 – Kansas City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 SCI 5542  |  Gen AI &amp; Big Data Analytics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Are Expensive &amp; Forgettable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716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039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year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unproductive meetings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18888" y="1234440"/>
            <a:ext cx="2560320" cy="13716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18888" y="13441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37min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818888" y="2039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spent writing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recaps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71432" y="1234440"/>
            <a:ext cx="2560320" cy="13716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71432" y="134416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9171432" y="2039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attendees forget key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within 24h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486400" cy="64008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3375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Manual note-taking is error-prone and time-consuming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5486400" cy="64008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3375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Remote &amp; hybrid meetings lack automatic transcription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5486400" cy="64008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Action items slip through the cracks without tracking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486400" cy="64008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41148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No sentiment visibility across team meetings over time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548872" y="0"/>
            <a:ext cx="64008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value unlocked by AI-powered meeting intelligence: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70048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Auto-transcription &amp; summarization cuts recap time from 37 min to under 2 min per meeting.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1572768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0128" y="1572768"/>
            <a:ext cx="26700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47288" y="173736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01568" y="22677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59689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action items with owners &amp; deadlines extracted automatically from conversation.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63056" y="1572768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3056" y="1572768"/>
            <a:ext cx="2670048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00216" y="173736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021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54496" y="22677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54496" y="259689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tracks team morale and engagement trends across all meetings.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15984" y="1572768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15984" y="1572768"/>
            <a:ext cx="267004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53144" y="17373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531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07424" y="2267712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07424" y="2596896"/>
            <a:ext cx="24871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narration &amp; full transcripts make meetings accessible for deaf &amp; hard-of-hearing.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730752"/>
            <a:ext cx="11274552" cy="8686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776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Estimate: For a 50-person org with 10 meetings/week —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41422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~$180K saved annually in reclaim time alone.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37033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800" dirty="0"/>
          </a:p>
        </p:txBody>
      </p:sp>
      <p:sp>
        <p:nvSpPr>
          <p:cNvPr id="33" name="Text 31"/>
          <p:cNvSpPr/>
          <p:nvPr/>
        </p:nvSpPr>
        <p:spPr>
          <a:xfrm>
            <a:off x="8503920" y="4270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recap effort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5138928"/>
            <a:ext cx="1783080" cy="384048"/>
          </a:xfrm>
          <a:prstGeom prst="rect">
            <a:avLst/>
          </a:prstGeom>
          <a:solidFill>
            <a:srgbClr val="E8EDF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359152" y="5138928"/>
            <a:ext cx="1783080" cy="384048"/>
          </a:xfrm>
          <a:prstGeom prst="rect">
            <a:avLst/>
          </a:prstGeom>
          <a:solidFill>
            <a:srgbClr val="E8EDF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59152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61104" y="5138928"/>
            <a:ext cx="1783080" cy="384048"/>
          </a:xfrm>
          <a:prstGeom prst="rect">
            <a:avLst/>
          </a:prstGeom>
          <a:solidFill>
            <a:srgbClr val="E8EDF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261104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meetings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63056" y="5138928"/>
            <a:ext cx="1783080" cy="384048"/>
          </a:xfrm>
          <a:prstGeom prst="rect">
            <a:avLst/>
          </a:prstGeom>
          <a:solidFill>
            <a:srgbClr val="E8EDF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63056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interviews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65008" y="5138928"/>
            <a:ext cx="1783080" cy="384048"/>
          </a:xfrm>
          <a:prstGeom prst="rect">
            <a:avLst/>
          </a:prstGeom>
          <a:solidFill>
            <a:srgbClr val="E8EDF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065008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capture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966960" y="5138928"/>
            <a:ext cx="1783080" cy="384048"/>
          </a:xfrm>
          <a:prstGeom prst="rect">
            <a:avLst/>
          </a:prstGeom>
          <a:solidFill>
            <a:srgbClr val="E8EDFF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966960" y="51389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rounds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In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 Formats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029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73152" cy="4937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.wav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572768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Uncompressed PCM — highest quality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5029200" cy="493776"/>
          </a:xfrm>
          <a:prstGeom prst="rect">
            <a:avLst/>
          </a:prstGeom>
          <a:solidFill>
            <a:srgbClr val="E8ED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73152" cy="4937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139696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.mp3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139696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— most common format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06624"/>
            <a:ext cx="5029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706624"/>
            <a:ext cx="73152" cy="4937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706624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.m4a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706624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Apple/iOS recordings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73552"/>
            <a:ext cx="5029200" cy="493776"/>
          </a:xfrm>
          <a:prstGeom prst="rect">
            <a:avLst/>
          </a:prstGeom>
          <a:solidFill>
            <a:srgbClr val="E8ED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73152" cy="4937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273552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.ogg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3273552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compressed audio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0292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73152" cy="4937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840480"/>
            <a:ext cx="777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.flac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384048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compressed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52160" y="11430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Pipeline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852160" y="1572768"/>
            <a:ext cx="5486400" cy="71323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89320" y="1627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89320" y="19019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.wav / .mp3 / .m4a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21040" y="2286000"/>
            <a:ext cx="109728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52160" y="2532888"/>
            <a:ext cx="548640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89320" y="2587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89320" y="28620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 resampling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321040" y="3246120"/>
            <a:ext cx="109728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52160" y="3493008"/>
            <a:ext cx="548640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89320" y="35478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89320" y="38221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format check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321040" y="4206240"/>
            <a:ext cx="109728" cy="24688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52160" y="4453128"/>
            <a:ext cx="548640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89320" y="4507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89320" y="47823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4956048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Dataset Stats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57200" y="5321808"/>
            <a:ext cx="260604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5349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457200" y="5806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91840" y="5321808"/>
            <a:ext cx="260604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91840" y="5349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2–45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3291840" y="5806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recording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5321808"/>
            <a:ext cx="260604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26480" y="5349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6126480" y="5806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961120" y="5321808"/>
            <a:ext cx="260604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961120" y="534924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8961120" y="5806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920240" cy="10058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Transcription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837944"/>
            <a:ext cx="33832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51760" y="1764792"/>
            <a:ext cx="109728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61488" y="1371600"/>
            <a:ext cx="19202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61488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Diarization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61488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27448" y="1837944"/>
            <a:ext cx="33832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01768" y="1764792"/>
            <a:ext cx="109728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111496" y="1371600"/>
            <a:ext cx="192024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11496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NLP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11496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+ KeyBERT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77456" y="1837944"/>
            <a:ext cx="33832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51776" y="1764792"/>
            <a:ext cx="109728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61504" y="1371600"/>
            <a:ext cx="192024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61504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LLM Summary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61504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27464" y="1837944"/>
            <a:ext cx="338328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701784" y="1764792"/>
            <a:ext cx="109728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11512" y="1371600"/>
            <a:ext cx="1920240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11512" y="1463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TTS Output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811512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SpeechT5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1143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Audio File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811512" y="11430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Smart Report + Audio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" y="2606040"/>
            <a:ext cx="1920240" cy="21762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" y="2679192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 (large-v3) converts audio to timestamped text. Handles accents, noise, overlapping speech.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" y="38770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8862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Audio WAV 16kHz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" y="41056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1148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JSON transcript + timestamps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61488" y="2606040"/>
            <a:ext cx="1920240" cy="21762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34640" y="2679192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 3.1 segments audio by speaker. Merges speaker labels with Whisper tokens.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34640" y="38770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852928" y="38862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Audio + transcript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41056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852928" y="41148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Speaker-labeled segments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11496" y="2606040"/>
            <a:ext cx="1920240" cy="21762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84648" y="2679192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for sentiment (pos/neg/neutral per segment). KeyBERT for keyword extraction per speaker.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84648" y="38770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202936" y="38862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Speaker segments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84648" y="41056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202936" y="41148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Sentiment scores + keywords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61504" y="2606040"/>
            <a:ext cx="1920240" cy="21762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34656" y="2679192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generates executive summary, action items with owners, and decisions.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34656" y="38770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552944" y="38862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Labeled transcript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34656" y="41056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52944" y="41148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Structured JSON report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811512" y="2606040"/>
            <a:ext cx="1920240" cy="21762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884664" y="2679192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SpeechT5 converts the summary text to a natural-sounding MP3 narration.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884664" y="38770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9902952" y="38862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Summary text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884664" y="4105656"/>
            <a:ext cx="1773936" cy="201168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902952" y="4114800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MP3 audio narration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892040"/>
            <a:ext cx="11365992" cy="502920"/>
          </a:xfrm>
          <a:prstGeom prst="rect">
            <a:avLst/>
          </a:prstGeom>
          <a:solidFill>
            <a:srgbClr val="1E1E40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48640" y="491947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Google Colab API server + Gradio frontend for interactive demos.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models power the end-to-end pipeline: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64008" cy="14173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60020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large-v3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911096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(ASR)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67128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multilingual model. WER &lt; 5% on clean audio. Timestamped token output.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79392" y="150876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79392" y="150876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3984" y="160020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pyannote.audio 3.1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43984" y="1911096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43984" y="2167128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pipeline. LSTM-based segmentation. Identifies who spoke when.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01584" y="1508760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01584" y="1508760"/>
            <a:ext cx="6400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66176" y="1600200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1911096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66176" y="2167128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on Twitter data. Classifies each segment: POSITIVE / NEGATIVE / NEUTRAL.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81528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081528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317296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" y="348386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739896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embeddings + cosine similarity. Extracts top-5 keywords per speaker block.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79392" y="3081528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79392" y="3081528"/>
            <a:ext cx="64008" cy="141732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43984" y="317296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443984" y="348386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9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Summarization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43984" y="3739896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DeepMind. Structured JSON output via prompt engineering. 1M token context.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01584" y="3081528"/>
            <a:ext cx="3611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01584" y="3081528"/>
            <a:ext cx="64008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66176" y="3172968"/>
            <a:ext cx="3355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SpeechT5 TTS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66176" y="3483864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66176" y="3739896"/>
            <a:ext cx="3355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encoder-decoder model. Natural prosody. Outputs 16kHz WAV → MP3.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73168"/>
            <a:ext cx="11274552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846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Python 3.10   •   PyTorch 2.x   •   HuggingFace Transformers   •   Google GenerativeAI SDK   •   Flask API   •   Gradio UI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Baseline vs Improved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solidFill>
            <a:srgbClr val="5C2E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Prompt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36792" y="1143000"/>
            <a:ext cx="5394960" cy="411480"/>
          </a:xfrm>
          <a:prstGeom prst="rect">
            <a:avLst/>
          </a:prstGeom>
          <a:solidFill>
            <a:srgbClr val="1A3A1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36792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Prompt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5394960" cy="2148840"/>
          </a:xfrm>
          <a:prstGeom prst="rect">
            <a:avLst/>
          </a:prstGeom>
          <a:solidFill>
            <a:srgbClr val="252545"/>
          </a:solidFill>
          <a:ln w="12700">
            <a:solidFill>
              <a:srgbClr val="5C2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 this meeting transcript: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"{transcript}"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 a summary.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36792" y="1572768"/>
            <a:ext cx="5394960" cy="2148840"/>
          </a:xfrm>
          <a:prstGeom prst="rect">
            <a:avLst/>
          </a:prstGeom>
          <a:solidFill>
            <a:srgbClr val="252545"/>
          </a:solidFill>
          <a:ln w="12700">
            <a:solidFill>
              <a:srgbClr val="1A3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73952" y="1664208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an expert meeting analyst. Given the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speaker-labeled transcript below, return ONLY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 JSON with this schema: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"executive_summary": string,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"key_decisions": [string],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"action_items": [{"owner","task","due"}],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"sentiment_overview": string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Transcript: {transcript}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42432" y="228600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Results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1274552" cy="402336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06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420624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420624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636008"/>
            <a:ext cx="11274552" cy="402336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46360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46360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missed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46360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+ deadline extracted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065776"/>
            <a:ext cx="11274552" cy="402336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50657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506577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 per run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506577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Schema-enforced output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495544"/>
            <a:ext cx="11274552" cy="402336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5495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success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26080" y="549554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5495544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Output: Sample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858000" cy="3657600"/>
          </a:xfrm>
          <a:prstGeom prst="rect">
            <a:avLst/>
          </a:prstGeom>
          <a:solidFill>
            <a:srgbClr val="1C1C2E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858000" cy="347472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612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sample_output.json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66294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"executive_summary": "Team aligned on Q3 roadmap.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Authentication sprint starts Monday.",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"key_decisions": 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"Launch OAuth2 integration by July 15",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"Daily standups moved to 9am"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"action_items": [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"owner": "Alice", "task": "Setup OAuth2",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"due": "2026-07-15" },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"owner": "Bob",   "task": "Update API docs",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"due": "2026-07-10" }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"sentiment_overview": "Overall POSITIVE (0.73).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Minor tension around timeline.",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"keywords": ["OAuth", "sprint", "authentication",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"roadmap", "deadline"]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89520" y="1143000"/>
            <a:ext cx="41422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589520" y="1143000"/>
            <a:ext cx="64008" cy="80467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26680" y="119786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Executive Summary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26680" y="15270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sentence narrative of the meeting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589520" y="2029968"/>
            <a:ext cx="41422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89520" y="2029968"/>
            <a:ext cx="64008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26680" y="20848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Action Items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26680" y="241401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task, due date — machine-readable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89520" y="2916936"/>
            <a:ext cx="41422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589520" y="2916936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26680" y="297180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Sentiment Report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26680" y="3300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Per-speaker + overall sentiment score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3803904"/>
            <a:ext cx="414223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89520" y="3803904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26680" y="385876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Audio Narration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26680" y="41879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MP3 summary via SpeechT5 TTS engine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11274552" cy="12344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" y="5029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90s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40080" y="5550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5029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429000" y="5550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5029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6217920" y="5550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rating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006840" y="502920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9006840" y="5550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Quality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3474720" cy="36576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4747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audio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234086" cy="2011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46120" y="173736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258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noise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304288"/>
            <a:ext cx="570586" cy="2011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2258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7797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noise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2825496"/>
            <a:ext cx="1345997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46120" y="27797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3009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Multi-speaker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3346704"/>
            <a:ext cx="373075" cy="2011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46120" y="330098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0" y="3867912"/>
            <a:ext cx="81930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46120" y="38221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343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4251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270248" y="1170432"/>
            <a:ext cx="3474720" cy="36576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70248" y="1170432"/>
            <a:ext cx="34747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07408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Comparison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407408" y="17373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44768" y="17373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12280" y="180136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94576" y="1737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07408" y="2286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recall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44768" y="22860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235000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94576" y="22860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407408" y="28346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ROUGE-1 score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44768" y="28346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12280" y="289864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94576" y="2834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07408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rating /5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44768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344728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94576" y="3383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07408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44768" y="39319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12280" y="3995928"/>
            <a:ext cx="54864" cy="14630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94576" y="3931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44768" y="4279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9457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74152" y="1170432"/>
            <a:ext cx="3474720" cy="36576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8074152" y="1170432"/>
            <a:ext cx="34747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211312" y="1280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Latency (30min audio)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211312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582912" y="1783080"/>
            <a:ext cx="1691640" cy="2011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1320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11312" y="22585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Diarization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9582912" y="2304288"/>
            <a:ext cx="722376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1320272" y="2258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11312" y="277977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582912" y="2825496"/>
            <a:ext cx="320040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1320272" y="2779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211312" y="33009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582912" y="3346704"/>
            <a:ext cx="48463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11320272" y="3300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211312" y="38221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582912" y="3867912"/>
            <a:ext cx="402336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1320272" y="38221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211312" y="4343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601200" y="4251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~90s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0" cy="4572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87680" y="962676"/>
            <a:ext cx="5120640" cy="4709160"/>
          </a:xfrm>
          <a:prstGeom prst="rect">
            <a:avLst/>
          </a:prstGeom>
          <a:solidFill>
            <a:srgbClr val="25254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36059" y="3003338"/>
            <a:ext cx="4754880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API Server  + 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Frontend</a:t>
            </a:r>
            <a:b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end-to-end in your browser — no local GPU required.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6059" y="35433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12344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943600" y="1719072"/>
            <a:ext cx="5303520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35040" y="18288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/ Client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412480" y="2286000"/>
            <a:ext cx="109728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943600" y="2423160"/>
            <a:ext cx="5303520" cy="56692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035040" y="25328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 Frontend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412480" y="2990088"/>
            <a:ext cx="109728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943600" y="3127248"/>
            <a:ext cx="530352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035040" y="32369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(Colab)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412480" y="3694176"/>
            <a:ext cx="109728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943600" y="3831336"/>
            <a:ext cx="5303520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035040" y="39410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Engine (Python)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8412480" y="4398264"/>
            <a:ext cx="109728" cy="21031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943600" y="4535424"/>
            <a:ext cx="5303520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35040" y="46451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 (Whisper • pyannote • RoBERTa • Gemini • SpeechT5)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FA48C693-88D2-69BB-6A4A-285FA6B19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69" y="998884"/>
            <a:ext cx="5072261" cy="192033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CEAC94A-F260-465F-4C49-9FF012963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059" y="3502209"/>
            <a:ext cx="5072261" cy="1703771"/>
          </a:xfrm>
          <a:prstGeom prst="rect">
            <a:avLst/>
          </a:prstGeom>
        </p:spPr>
      </p:pic>
      <p:sp>
        <p:nvSpPr>
          <p:cNvPr id="68" name="Text 43">
            <a:extLst>
              <a:ext uri="{FF2B5EF4-FFF2-40B4-BE49-F238E27FC236}">
                <a16:creationId xmlns:a16="http://schemas.microsoft.com/office/drawing/2014/main" id="{39C82F6A-89C3-7E74-0F86-CBED798D0DE2}"/>
              </a:ext>
            </a:extLst>
          </p:cNvPr>
          <p:cNvSpPr/>
          <p:nvPr/>
        </p:nvSpPr>
        <p:spPr>
          <a:xfrm>
            <a:off x="536059" y="5201591"/>
            <a:ext cx="4754880" cy="457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Pipeline</a:t>
            </a:r>
            <a:b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CPU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5394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Latency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0" y="160934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90s end-to-end not yet real-time. Streaming Whisper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5394960" cy="585216"/>
          </a:xfrm>
          <a:prstGeom prst="rect">
            <a:avLst/>
          </a:prstGeom>
          <a:solidFill>
            <a:srgbClr val="EEF2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64008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Language Support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22677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English; multilingual diarization is inconsistent.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5394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64008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Noisy Audio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292608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degrades significantly (18%+) in environments with heavy background noise.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5394960" cy="585216"/>
          </a:xfrm>
          <a:prstGeom prst="rect">
            <a:avLst/>
          </a:prstGeom>
          <a:solidFill>
            <a:srgbClr val="EEF2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64008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6027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API Keys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5844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HuggingFace token (pyannote) and Google API key (Gemini).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53949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64008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261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Colab Dependency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31720" y="424281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requires active Colab runtime; session timeout disconnects API.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36792" y="11430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336792" y="1572768"/>
            <a:ext cx="5394960" cy="58521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73952" y="16367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05472" y="1627632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transcription • Real-time diarization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36792" y="2231136"/>
            <a:ext cx="5394960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73952" y="229514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05472" y="2286000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(Spanish, Mandarin, French)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36792" y="2889504"/>
            <a:ext cx="5394960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73952" y="29535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05472" y="2944368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integration • Slack/Teams auto-post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36792" y="3547872"/>
            <a:ext cx="539496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73952" y="36118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05472" y="3602736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voiceprint auth • Privacy-preserving local mode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36792" y="4206240"/>
            <a:ext cx="5394960" cy="58521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73952" y="42702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05472" y="4261104"/>
            <a:ext cx="4434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 • Meeting coaching dashboard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956048"/>
            <a:ext cx="11274552" cy="12801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0080" y="5029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40080" y="53675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5-stage modular architecture makes each component independently upgradeable.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Whisper for a future model without rewriting the entire pipeline.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D8E4FF"/>
          </a:solidFill>
          <a:ln w="12700">
            <a:solidFill>
              <a:srgbClr val="D8E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914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138988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audio to actionable intelligence — in 90 seconds.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011680"/>
            <a:ext cx="6583680" cy="1051560"/>
          </a:xfrm>
          <a:prstGeom prst="rect">
            <a:avLst/>
          </a:prstGeom>
          <a:solidFill>
            <a:srgbClr val="252545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208483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https://github.com/mosomo82/COMP_SCI_5542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3246120"/>
            <a:ext cx="6583680" cy="178308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33192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Disclosure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72160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(Anthropic) — code assistance, prompt engineering, architecture review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114800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Gemini 2.0 Flash (Google) — LLM summarization stage in the pipeline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5079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GitHub Copilot — inline code completion during development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35240" y="2011680"/>
            <a:ext cx="4096512" cy="301752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0" y="20848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0" y="2514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7724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92640" y="25146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69264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3429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90s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777240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692640" y="342900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69264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5230368"/>
            <a:ext cx="11091672" cy="89611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349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talk meeting intelligence.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31326"/>
          </a:solidFill>
          <a:ln w="12700">
            <a:solidFill>
              <a:srgbClr val="1313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6574536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UMKC COMP SCI 5542  |  AI Meeting Intelligence System  |  Tony  | 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1517</Words>
  <Application>Microsoft Office PowerPoint</Application>
  <PresentationFormat>Widescreen</PresentationFormat>
  <Paragraphs>333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Meeting Intelligence System</dc:title>
  <dc:subject>PptxGenJS Presentation</dc:subject>
  <dc:creator>Tony Nguyen</dc:creator>
  <cp:lastModifiedBy>TUAN NGUYEN</cp:lastModifiedBy>
  <cp:revision>2</cp:revision>
  <dcterms:created xsi:type="dcterms:W3CDTF">2026-04-28T02:57:28Z</dcterms:created>
  <dcterms:modified xsi:type="dcterms:W3CDTF">2026-04-28T03:15:09Z</dcterms:modified>
</cp:coreProperties>
</file>