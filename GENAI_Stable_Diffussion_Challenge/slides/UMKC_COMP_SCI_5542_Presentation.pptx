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objective: generate e-commerce product visuals from metadata.</a:t>
            </a:r>
          </a:p>
          <a:p>
            <a:r>
              <a:t>Explain that the project compares naive and structured prompt strategies.</a:t>
            </a:r>
          </a:p>
          <a:p>
            <a:r>
              <a:t>Mention evaluation combines CLIP metrics with manual quality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practical engineering problem with business impact.</a:t>
            </a:r>
          </a:p>
          <a:p>
            <a:r>
              <a:t>State that metadata availability motivates data-driven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subset size is intentionally small for controlled experiments.</a:t>
            </a:r>
          </a:p>
          <a:p>
            <a:r>
              <a:t>Explain how each field contributes to prompt richness.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your architecture bridge into implementation detail.</a:t>
            </a:r>
          </a:p>
          <a:p>
            <a:r>
              <a:t>Keep this high-level and transition to pipeline specifics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engineering controls: parameters, seeds, and mode toggles.</a:t>
            </a:r>
          </a:p>
          <a:p>
            <a:r>
              <a:t>Explain when SDXL is preferred versus SD 1.5.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naive versus structured prompt construction.</a:t>
            </a:r>
          </a:p>
          <a:p>
            <a:r>
              <a:t>Highlight this is from the actual prompt_builder.py implementation.</a:t>
            </a:r>
          </a:p>
          <a:p>
            <a:r>
              <a:t>Explain why metadata-rich phrasing gives better controllability.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is critical for multi-view e-commerce listings.</a:t>
            </a:r>
          </a:p>
          <a:p>
            <a:r>
              <a:t>Connect this to consistency metric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concise and map each tool to one specific role.</a:t>
            </a:r>
          </a:p>
          <a:p>
            <a:r>
              <a:t>Mention that AI tool disclosure appears on the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naive and structured rows explicitly.</a:t>
            </a:r>
          </a:p>
          <a:p>
            <a:r>
              <a:t>Point to lighting/background differences and shape consistency.</a:t>
            </a:r>
          </a:p>
          <a:p>
            <a:r>
              <a:t>Mention this example uses outputs from product 0101635370.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one product snapshot is illustrative but not definitive.</a:t>
            </a:r>
          </a:p>
          <a:p>
            <a:r>
              <a:t>Encourage panel to focus on full-table trends in report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findings back to problem statement and business relevance.</a:t>
            </a:r>
          </a:p>
          <a:p>
            <a:r>
              <a:t>Use one concrete before/after visual when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limitations confidently as future-work opportunities.</a:t>
            </a:r>
          </a:p>
          <a:p>
            <a:r>
              <a:t>Mention that reproducibility controls are already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 video URL with your final demo before submission.</a:t>
            </a:r>
          </a:p>
          <a:p>
            <a:r>
              <a:t>Reiterate disclosure transparency and manual validation practices.</a:t>
            </a:r>
          </a:p>
          <a:p>
            <a:r>
              <a:t>Invite questions and transition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COMP_SCI 5542: GenAI Stable Diffusion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000">
                <a:solidFill>
                  <a:srgbClr val="004B8D"/>
                </a:solidFill>
                <a:latin typeface="Montserrat"/>
              </a:rPr>
              <a:t>Data-Driven E-Commerce Image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132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44444"/>
                </a:solidFill>
                <a:latin typeface="Open Sans"/>
              </a:rPr>
              <a:t>Tuan (Tony) Nguyen</a:t>
            </a:r>
          </a:p>
          <a:p>
            <a:r>
              <a:rPr sz="2100">
                <a:solidFill>
                  <a:srgbClr val="444444"/>
                </a:solidFill>
                <a:latin typeface="Open Sans"/>
              </a:rPr>
              <a:t>University of Missouri-Kansas City</a:t>
            </a:r>
          </a:p>
          <a:p>
            <a:r>
              <a:rPr sz="2100">
                <a:solidFill>
                  <a:srgbClr val="444444"/>
                </a:solidFill>
                <a:latin typeface="Open Sans"/>
              </a:rPr>
              <a:t>MS in Data Science and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621792"/>
            <a:ext cx="2011680" cy="731520"/>
          </a:xfrm>
          <a:prstGeom prst="rect">
            <a:avLst/>
          </a:prstGeom>
          <a:solidFill>
            <a:srgbClr val="F3F6FB"/>
          </a:solidFill>
          <a:ln>
            <a:solidFill>
              <a:srgbClr val="004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Insert UMKC logo</a:t>
            </a:r>
          </a:p>
          <a:p>
            <a:r>
              <a:rPr sz="1000">
                <a:solidFill>
                  <a:srgbClr val="444444"/>
                </a:solidFill>
                <a:latin typeface="Open Sans"/>
              </a:rPr>
              <a:t>assets/umkc_logo.png</a:t>
            </a:r>
          </a:p>
        </p:txBody>
      </p:sp>
      <p:pic>
        <p:nvPicPr>
          <p:cNvPr id="8" name="Picture 7" descr="0101635370_structured_view01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17320"/>
            <a:ext cx="3749039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5212079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Open Sans"/>
              </a:rPr>
              <a:t>Hero result (structured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Scenario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E-commerce needs scalable, consistent product imagery.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Manual studio photography is expensive and slow.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Goal: generate commercial-style product visuals from metadata.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Compare naive title-only prompts versus structured prompt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Source: Amazon Product Dataset metadata samples.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Project subset: 10 products across mixed categories.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Fields used: id, title, category, color, material, style.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Data file in repo: data/products.json.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Methodology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1) Metadata ingest and prompt construction.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2) Image generation via SD/SDXL (optional ControlNet).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3) Evaluation: CLIP, consistency, diversity, manual quality.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4) Reports exported to CSV and HTML for review.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5) Three execution modes: local CLI, Colab batch, Colab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Stable Diffusion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Supports SD 1.5 and SDXL with Diffusers backend.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Configurable: resolution, steps, CFG, seed, view count.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Optional ControlNet adds structural conditioning.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Reproducibility maintained via deterministic seed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Methodology: Prompt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3035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444444"/>
                </a:solidFill>
                <a:latin typeface="Open Sans"/>
              </a:rPr>
              <a:t>Naive prompt:</a:t>
            </a:r>
          </a:p>
          <a:p>
            <a:r>
              <a:rPr sz="1900">
                <a:solidFill>
                  <a:srgbClr val="444444"/>
                </a:solidFill>
                <a:latin typeface="Open Sans"/>
              </a:rPr>
              <a:t>- Uses product title only</a:t>
            </a:r>
          </a:p>
          <a:p/>
          <a:p>
            <a:r>
              <a:rPr sz="1900">
                <a:solidFill>
                  <a:srgbClr val="444444"/>
                </a:solidFill>
                <a:latin typeface="Open Sans"/>
              </a:rPr>
              <a:t>Structured prompt:</a:t>
            </a:r>
          </a:p>
          <a:p>
            <a:r>
              <a:rPr sz="1900">
                <a:solidFill>
                  <a:srgbClr val="444444"/>
                </a:solidFill>
                <a:latin typeface="Open Sans"/>
              </a:rPr>
              <a:t>- Injects color, material, category, and style</a:t>
            </a:r>
          </a:p>
          <a:p>
            <a:r>
              <a:rPr sz="1900">
                <a:solidFill>
                  <a:srgbClr val="444444"/>
                </a:solidFill>
                <a:latin typeface="Open Sans"/>
              </a:rPr>
              <a:t>- Adds studio quality boosters</a:t>
            </a:r>
          </a:p>
          <a:p>
            <a:r>
              <a:rPr sz="1900">
                <a:solidFill>
                  <a:srgbClr val="444444"/>
                </a:solidFill>
                <a:latin typeface="Open Sans"/>
              </a:rPr>
              <a:t>- Uses negative prompt for artifact suppression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960120"/>
            <a:ext cx="5212080" cy="4389120"/>
          </a:xfrm>
          <a:prstGeom prst="roundRect">
            <a:avLst/>
          </a:prstGeom>
          <a:solidFill>
            <a:srgbClr val="1E1E1E"/>
          </a:solidFill>
          <a:ln>
            <a:solidFill>
              <a:srgbClr val="004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234440"/>
            <a:ext cx="4663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prompt = (</a:t>
            </a:r>
          </a:p>
          <a:p>
            <a:r>
              <a:rPr sz="1500">
                <a:solidFill>
                  <a:srgbClr val="FFFFFF"/>
                </a:solidFill>
                <a:latin typeface="Consolas"/>
              </a:rPr>
              <a:t>    f"{photography_style} of "</a:t>
            </a:r>
          </a:p>
          <a:p>
            <a:r>
              <a:rPr sz="1500">
                <a:solidFill>
                  <a:srgbClr val="FFFFFF"/>
                </a:solidFill>
                <a:latin typeface="Consolas"/>
              </a:rPr>
              <a:t>    f"{product['color']} {product['material']} {product['title']}, "</a:t>
            </a:r>
          </a:p>
          <a:p>
            <a:r>
              <a:rPr sz="1500">
                <a:solidFill>
                  <a:srgbClr val="FFFFFF"/>
                </a:solidFill>
                <a:latin typeface="Consolas"/>
              </a:rPr>
              <a:t>    f"category: {product['category']}, style: {product['style']}, "</a:t>
            </a:r>
          </a:p>
          <a:p>
            <a:r>
              <a:rPr sz="1500">
                <a:solidFill>
                  <a:srgbClr val="FFFFFF"/>
                </a:solidFill>
                <a:latin typeface="Consolas"/>
              </a:rPr>
              <a:t>    f"{quality_boosters}"</a:t>
            </a:r>
          </a:p>
          <a:p>
            <a:r>
              <a:rPr sz="150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Control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ControlNet with Canny edges anchors object structure.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Improves cross-view consistency for the same product.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Applied when reference image or edge guidance is available.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Tradeoff: tighter structure can reduce visual diversity.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Tools and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Core stack: Python, Diffusers, Stable Diffusion, ControlNet, CLIP.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Execution: local environment and Google Colab GPU runtime.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Deployment/demo: Flask API + ngrok + browser frontend.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Evaluation and reporting: pandas, CSV/HTML outputs, quality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Results (Images): Naive vs Structured</a:t>
            </a:r>
          </a:p>
        </p:txBody>
      </p:sp>
      <p:pic>
        <p:nvPicPr>
          <p:cNvPr id="5" name="Picture 4" descr="0101635370_naive_view01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2688"/>
            <a:ext cx="260604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58444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Open Sans"/>
              </a:rPr>
              <a:t>Naive View 1</a:t>
            </a:r>
          </a:p>
        </p:txBody>
      </p:sp>
      <p:pic>
        <p:nvPicPr>
          <p:cNvPr id="7" name="Picture 6" descr="0101635370_naive_view02_see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932688"/>
            <a:ext cx="260604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11880" y="358444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Open Sans"/>
              </a:rPr>
              <a:t>Naive View 2</a:t>
            </a:r>
          </a:p>
        </p:txBody>
      </p:sp>
      <p:pic>
        <p:nvPicPr>
          <p:cNvPr id="9" name="Picture 8" descr="0101635370_structured_view01_seed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932688"/>
            <a:ext cx="260604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358444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Open Sans"/>
              </a:rPr>
              <a:t>Structured View 1</a:t>
            </a:r>
          </a:p>
        </p:txBody>
      </p:sp>
      <p:pic>
        <p:nvPicPr>
          <p:cNvPr id="11" name="Picture 10" descr="0101635370_structured_view02_seed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932688"/>
            <a:ext cx="2606040" cy="2606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358444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44444"/>
                </a:solidFill>
                <a:latin typeface="Open Sans"/>
              </a:rPr>
              <a:t>Structured 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444444"/>
                </a:solidFill>
                <a:latin typeface="Open Sans"/>
              </a:rPr>
              <a:t>Visual check: structured prompts tend to improve product framing and studio consistency.</a:t>
            </a:r>
          </a:p>
          <a:p>
            <a:r>
              <a:rPr sz="1700">
                <a:solidFill>
                  <a:srgbClr val="444444"/>
                </a:solidFill>
                <a:latin typeface="Open Sans"/>
              </a:rPr>
              <a:t>Use this slide to call out concrete examples during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Metrics: CLIP alignment, consistency, diversity, human quality score.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Sample (results/local_summary.csv, product 0101635370):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Naive: CLIP 0.2997 | Consistency 0.7745 | Diversity 0.0442.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Structured: CLIP 0.2714 | Consistency 0.7169 | Diversity 0.0442.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Use full multi-product summary for final aggregate conclusions.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Findings and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Structured prompts improve controllability and presentation consistency.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Control signals reduce geometric drift across product views.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Qualitative scoring complements embedding-based metrics.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Failure-case analysis reveals practical prompt and control fixes.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Current sample size is limited for broad statistical claims.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CLIP is useful but not a full proxy for commercial quality.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Model behavior depends on seed, runtime, and prompt sensitivity.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444444"/>
                </a:solidFill>
                <a:latin typeface="Open Sans"/>
              </a:rPr>
              <a:t>Colab/API demo environments can introduce session instability.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FFFFF"/>
                </a:solidFill>
                <a:latin typeface="Montserrat"/>
              </a:rPr>
              <a:t>Video, Repository, and AI 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8813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44444"/>
                </a:solidFill>
                <a:latin typeface="Open Sans"/>
              </a:rPr>
              <a:t>GitHub URL: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https://github.com/mosomo82/COMP_SCI_5542.git</a:t>
            </a:r>
          </a:p>
          <a:p/>
          <a:p>
            <a:r>
              <a:rPr sz="2000">
                <a:solidFill>
                  <a:srgbClr val="444444"/>
                </a:solidFill>
                <a:latin typeface="Open Sans"/>
              </a:rPr>
              <a:t>Demo Video URL: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https://youtu.be/REPLACE_WITH_YOUR_VIDEO_ID</a:t>
            </a:r>
          </a:p>
          <a:p/>
          <a:p>
            <a:r>
              <a:rPr sz="2000">
                <a:solidFill>
                  <a:srgbClr val="444444"/>
                </a:solidFill>
                <a:latin typeface="Open Sans"/>
              </a:rPr>
              <a:t>AI tools used (required disclosure):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- Claude Code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- ChatGPT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- Antigravity AI</a:t>
            </a:r>
          </a:p>
          <a:p/>
          <a:p>
            <a:r>
              <a:rPr sz="2000">
                <a:solidFill>
                  <a:srgbClr val="444444"/>
                </a:solidFill>
                <a:latin typeface="Open Sans"/>
              </a:rPr>
              <a:t>Human verification:</a:t>
            </a:r>
          </a:p>
          <a:p>
            <a:r>
              <a:rPr sz="2000">
                <a:solidFill>
                  <a:srgbClr val="444444"/>
                </a:solidFill>
                <a:latin typeface="Open Sans"/>
              </a:rPr>
              <a:t>All code, outputs, metrics, and conclusions were manually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Open Sans"/>
              </a:rPr>
              <a:t>UMKC COMP_SCI 5542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