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3595" autoAdjust="0"/>
  </p:normalViewPr>
  <p:slideViewPr>
    <p:cSldViewPr snapToGrid="0" snapToObjects="1">
      <p:cViewPr varScale="1">
        <p:scale>
          <a:sx n="60" d="100"/>
          <a:sy n="60" d="100"/>
        </p:scale>
        <p:origin x="15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27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 are constant, but current tools do not bridge prediction to safe action.
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 need both speed and explainability during weather and accident events.
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just forecasting — it is compliance-aware decision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A5B63-B0ED-E9BA-516D-4AAC11DE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68263-7888-37A9-A51C-C9C7F1D17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51330-A70A-F604-4E05-4A50D2CD2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 are constant, but current tools do not bridge prediction to safe action.
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 need both speed and explainability during weather and accident events.
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just forecasting — it is compliance-aware decision execution.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97C8B-F678-CA37-308D-2F4BC0A3ED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28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3859-5943-CFED-F4C8-B6D65341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915DA-E78D-BEEF-0E15-F165C035B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542F3-FBB2-4986-E791-F51560EB3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35239-CCEB-E075-96CF-248C8D1885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7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3502152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0" y="0"/>
            <a:ext cx="2587752" cy="2286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EVN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HyperLogistics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77724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delivers safety-compliant, explainable AI rerouting for middle-mile logistics.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Regnier Venture Creation Challenge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7.7M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+55 pts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Lift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17/17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0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 Tests Pass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Vinas  •  Daniel Evans  •  Tony Nguyen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Middle-mile teams face immense pressure  during disruptions. Without trustworthy AI, prediction cannot safely cross the gap into 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640080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1371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70408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880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3794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4480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09760" y="3794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0" y="4480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047F7A9-6873-4928-1916-A203CD34B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11491454" cy="52049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Our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HyperLogistics combines forecasting, retrieval, and hard safety veto into one decision flow.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352044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51660" y="123444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516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039112"/>
            <a:ext cx="324612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ReMindRAG retrieves grounded evidence for route reasoning — no free-form generation.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508760"/>
            <a:ext cx="352044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83580" y="123444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835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1600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34840" y="2039112"/>
            <a:ext cx="324612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SRSNet predicts disruption propagation over 4–8 hour middle-mile transit windows.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508760"/>
            <a:ext cx="352044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15500" y="123444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155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1600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VETO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2039112"/>
            <a:ext cx="324612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bridge-constraint veto blocks unsafe recommendations before dispatch.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04488" y="3520440"/>
            <a:ext cx="393192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36408" y="3520440"/>
            <a:ext cx="393192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5806440"/>
            <a:ext cx="11430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58064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 enforces  100% PHYSICAL CONSTRAINT COMPLIANCE  through bridge clearance and load checks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D5B7-3575-7685-AFFF-54BED5D4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367750-BC4C-E511-C003-39BFCCF05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DA2FF2-C196-2815-969D-461327C85115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BFB8D5-5E13-9F7C-89D5-FE0F95AF424A}"/>
              </a:ext>
            </a:extLst>
          </p:cNvPr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Our Solution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BCFC49-214B-2DA5-383F-DCE739211DF6}"/>
              </a:ext>
            </a:extLst>
          </p:cNvPr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2F8DFB-B01C-AA96-48BD-3B8A843C73BD}"/>
              </a:ext>
            </a:extLst>
          </p:cNvPr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00" b="1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HyperLogistics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forecasting, retrieval, and hard safety veto into one decision flow.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2C0924-9E2F-5C57-F4E1-6A038BF91F02}"/>
              </a:ext>
            </a:extLst>
          </p:cNvPr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704FC2-2AD8-75B0-1510-1D69E6D716C2}"/>
              </a:ext>
            </a:extLst>
          </p:cNvPr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880D1E-1A02-B96F-BC36-8FF7F91EB3A8}"/>
              </a:ext>
            </a:extLst>
          </p:cNvPr>
          <p:cNvSpPr/>
          <p:nvPr/>
        </p:nvSpPr>
        <p:spPr>
          <a:xfrm>
            <a:off x="274320" y="1371600"/>
            <a:ext cx="640080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DF3E05-9BB8-C771-2E71-B96FEBBC9CE0}"/>
              </a:ext>
            </a:extLst>
          </p:cNvPr>
          <p:cNvSpPr/>
          <p:nvPr/>
        </p:nvSpPr>
        <p:spPr>
          <a:xfrm>
            <a:off x="7040880" y="1371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BA1BD1B-6E66-DD37-B543-9DBBF4EB17FB}"/>
              </a:ext>
            </a:extLst>
          </p:cNvPr>
          <p:cNvSpPr/>
          <p:nvPr/>
        </p:nvSpPr>
        <p:spPr>
          <a:xfrm>
            <a:off x="70408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B6914CF-35AE-EB35-8FF6-7BBD86B9216B}"/>
              </a:ext>
            </a:extLst>
          </p:cNvPr>
          <p:cNvSpPr/>
          <p:nvPr/>
        </p:nvSpPr>
        <p:spPr>
          <a:xfrm>
            <a:off x="7040880" y="2880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98BBE00-BB44-D672-8581-E96DF771A5DE}"/>
              </a:ext>
            </a:extLst>
          </p:cNvPr>
          <p:cNvSpPr/>
          <p:nvPr/>
        </p:nvSpPr>
        <p:spPr>
          <a:xfrm>
            <a:off x="7040880" y="3794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A23B720-BA45-90E5-E749-17ECC4BF529E}"/>
              </a:ext>
            </a:extLst>
          </p:cNvPr>
          <p:cNvSpPr/>
          <p:nvPr/>
        </p:nvSpPr>
        <p:spPr>
          <a:xfrm>
            <a:off x="7040880" y="4480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EEAAB8F-44DE-3306-10BB-4BBAD58E5FE9}"/>
              </a:ext>
            </a:extLst>
          </p:cNvPr>
          <p:cNvSpPr/>
          <p:nvPr/>
        </p:nvSpPr>
        <p:spPr>
          <a:xfrm>
            <a:off x="9509760" y="3794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0A8CEE5-7AC2-69A9-375C-860083F95234}"/>
              </a:ext>
            </a:extLst>
          </p:cNvPr>
          <p:cNvSpPr/>
          <p:nvPr/>
        </p:nvSpPr>
        <p:spPr>
          <a:xfrm>
            <a:off x="9509760" y="4480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0DF355-F931-84B8-1D91-69DD972C9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98448"/>
            <a:ext cx="11430000" cy="515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6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Product &amp; Technology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Snowflake-native architecture operationalizes explainable rerouting in production form.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5303520" cy="4389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data pipeline (Bronze/Silver/Gold) supports ingestion, preprocessing, and serving.
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stack: ReMindRAG + SRSNet + Snowflake Cortex + Spatial SQL guardrails.
</a:t>
            </a:r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configured for 4-8 hour middle-mile transit windows.</a:t>
            </a:r>
          </a:p>
          <a:p>
            <a:pPr>
              <a:spcAft>
                <a:spcPts val="1000"/>
              </a:spcAft>
            </a:pP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surfaces risk heatmaps, side-by-side route options, and rationale.
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53328" y="1371600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53328" y="1875617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328" y="2487168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53328" y="2991185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3328" y="3602736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4106753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53328" y="4718304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53328" y="5222321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4CC6B0-CC9D-4BF9-74E9-3FFC35AD3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57268"/>
            <a:ext cx="6309360" cy="5053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B4D9-2593-9C48-F986-8E8FAE593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71EBD1-9A88-8019-FB57-94D352108C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F0B200-03CD-484A-4907-02646B769205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DA039D-E37F-769A-73A2-72848A95B551}"/>
              </a:ext>
            </a:extLst>
          </p:cNvPr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Product &amp; Technology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76C0BA9-5D99-AC5D-8209-25BEDDAB1EED}"/>
              </a:ext>
            </a:extLst>
          </p:cNvPr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B9A8B3-AF59-16B8-AD7A-7669C30715CE}"/>
              </a:ext>
            </a:extLst>
          </p:cNvPr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Only EVN </a:t>
            </a:r>
            <a:r>
              <a:rPr lang="en-US" sz="1400" dirty="0" err="1">
                <a:solidFill>
                  <a:schemeClr val="bg1"/>
                </a:solidFill>
              </a:rPr>
              <a:t>Hyperlogstics</a:t>
            </a:r>
            <a:r>
              <a:rPr lang="en-US" sz="1400" dirty="0">
                <a:solidFill>
                  <a:schemeClr val="bg1"/>
                </a:solidFill>
              </a:rPr>
              <a:t> possesses the Deterministic Safety Veto required to make AI outputs physically and legally viable for freight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550ADC-42F2-71E2-AF1C-E9C74498F0A8}"/>
              </a:ext>
            </a:extLst>
          </p:cNvPr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A6DD756-6693-7CAA-324B-B01247315A0A}"/>
              </a:ext>
            </a:extLst>
          </p:cNvPr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1F4A99-6149-E872-6029-A255FFEB5D3D}"/>
              </a:ext>
            </a:extLst>
          </p:cNvPr>
          <p:cNvSpPr/>
          <p:nvPr/>
        </p:nvSpPr>
        <p:spPr>
          <a:xfrm>
            <a:off x="274320" y="1371600"/>
            <a:ext cx="5303520" cy="4389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0566664-8630-AC2A-56A5-16CB016C05F9}"/>
              </a:ext>
            </a:extLst>
          </p:cNvPr>
          <p:cNvSpPr/>
          <p:nvPr/>
        </p:nvSpPr>
        <p:spPr>
          <a:xfrm>
            <a:off x="6053328" y="1371600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C350AB-B193-07B9-2FC4-03E2476BDBE8}"/>
              </a:ext>
            </a:extLst>
          </p:cNvPr>
          <p:cNvSpPr/>
          <p:nvPr/>
        </p:nvSpPr>
        <p:spPr>
          <a:xfrm>
            <a:off x="6053328" y="1875617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A935D9-B94A-A4D0-5FF3-3FB4114D877E}"/>
              </a:ext>
            </a:extLst>
          </p:cNvPr>
          <p:cNvSpPr/>
          <p:nvPr/>
        </p:nvSpPr>
        <p:spPr>
          <a:xfrm>
            <a:off x="6053328" y="2487168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4C1557-E8A7-7EEA-0DF4-FEC15C591CD6}"/>
              </a:ext>
            </a:extLst>
          </p:cNvPr>
          <p:cNvSpPr/>
          <p:nvPr/>
        </p:nvSpPr>
        <p:spPr>
          <a:xfrm>
            <a:off x="6053328" y="2991185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BDE6B41-4AD7-3B8D-154D-23CB82497961}"/>
              </a:ext>
            </a:extLst>
          </p:cNvPr>
          <p:cNvSpPr/>
          <p:nvPr/>
        </p:nvSpPr>
        <p:spPr>
          <a:xfrm>
            <a:off x="6053328" y="3602736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0613B04-FE09-4D53-BDFD-C50B64FD7294}"/>
              </a:ext>
            </a:extLst>
          </p:cNvPr>
          <p:cNvSpPr/>
          <p:nvPr/>
        </p:nvSpPr>
        <p:spPr>
          <a:xfrm>
            <a:off x="6053328" y="4106753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722F89A-A0A6-5B13-8A81-DFA446197EF8}"/>
              </a:ext>
            </a:extLst>
          </p:cNvPr>
          <p:cNvSpPr/>
          <p:nvPr/>
        </p:nvSpPr>
        <p:spPr>
          <a:xfrm>
            <a:off x="6053328" y="4718304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06383D3-5212-F30B-B973-4C198A9CDDB9}"/>
              </a:ext>
            </a:extLst>
          </p:cNvPr>
          <p:cNvSpPr/>
          <p:nvPr/>
        </p:nvSpPr>
        <p:spPr>
          <a:xfrm>
            <a:off x="6053328" y="5222321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3F418D-55E0-8F70-DD9A-C9817E6CA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69263"/>
            <a:ext cx="11430000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01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Target Customer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middle-mile decision owners at carriers and 3PLs.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1371600"/>
            <a:ext cx="4297680" cy="4754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34640" y="15087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Logistics Network Manager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Route Owner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393192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triage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approval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compliance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 under pressure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4297680" cy="4754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0" y="15087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Area Manager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Executor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3108960"/>
            <a:ext cx="393192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performance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route execution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oversight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confirmation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6263640"/>
            <a:ext cx="1143000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100 Area Manager query-response pairs trained and validated on operational language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Market Opportunity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5671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$110B market growing toward $218B — underserved by compliance-aware AI.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3657600" cy="5029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777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Middle-Mile Logistics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$110B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0292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(2025)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017520"/>
            <a:ext cx="32918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CAGR → $218B by 2035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32918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carriers, 3PLs, and freight operators managing hub-to-hub and distribution-center routing decisions globally.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52852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ResearchAndMarkets / 360iResearch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01160" y="1298448"/>
            <a:ext cx="3657600" cy="50292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480560" y="1417320"/>
            <a:ext cx="777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0" y="1417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Software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$7.9B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43484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(2025)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3017520"/>
            <a:ext cx="329184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 CAGR → $16.8B by 2031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3429000"/>
            <a:ext cx="32918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and 3PLs actively purchasing route intelligence software — the direct buyer segment for explainable AI rerouting.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52852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Mordor Intelligence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83880" y="1325880"/>
            <a:ext cx="3657600" cy="5029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12480" y="1417320"/>
            <a:ext cx="777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12480" y="1417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8116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 Logistics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6676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$1.7B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836676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Logistics (2025)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58200" y="3017520"/>
            <a:ext cx="32918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5820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 CAGR → $31.7B by 2035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58200" y="3429000"/>
            <a:ext cx="32918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but fastest growing segment: AI systems that explain decisions and enforce hard compliance — EVN's exact position.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58200" y="52852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Future Market Insights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6492240"/>
            <a:ext cx="115671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targets the SAM/SOM intersection: compliance-enforcing, explainable AI for active freight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" y="0"/>
            <a:ext cx="1220724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Progress &amp; Traction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deployment evidence, measurable lift, and reproducible execution.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4747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26003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0" y="1463040"/>
            <a:ext cx="34747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297680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3226003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1463040"/>
            <a:ext cx="34747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229600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3226003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77200" y="4574549"/>
            <a:ext cx="3535680" cy="1504535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14360" y="4693421"/>
            <a:ext cx="3383280" cy="2931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14360" y="5077469"/>
            <a:ext cx="3383280" cy="96444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HyperLogistics Streamlit app deployed and available — not a notebook demo.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574549"/>
            <a:ext cx="3459480" cy="1491469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80560" y="4693421"/>
            <a:ext cx="3383280" cy="300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 Quality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5077469"/>
            <a:ext cx="3383280" cy="98854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 automated tests pass, 14/14 issues closed — ReMindRAG reproducibility audit.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586783"/>
            <a:ext cx="3657600" cy="1492301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4152" y="4737936"/>
            <a:ext cx="3383280" cy="290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Adaptation Proof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5089703"/>
            <a:ext cx="3383280" cy="956603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model: 40% baseline → 95%  evaluation metrics.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3129A8E-0959-B6C1-DD7C-9996CF772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11429999" cy="3109708"/>
          </a:xfrm>
          <a:prstGeom prst="rect">
            <a:avLst/>
          </a:prstGeom>
        </p:spPr>
      </p:pic>
      <p:sp>
        <p:nvSpPr>
          <p:cNvPr id="32" name="Shape 22">
            <a:extLst>
              <a:ext uri="{FF2B5EF4-FFF2-40B4-BE49-F238E27FC236}">
                <a16:creationId xmlns:a16="http://schemas.microsoft.com/office/drawing/2014/main" id="{399D18CD-D379-62EE-8E3D-94B70DD7ADDE}"/>
              </a:ext>
            </a:extLst>
          </p:cNvPr>
          <p:cNvSpPr/>
          <p:nvPr/>
        </p:nvSpPr>
        <p:spPr>
          <a:xfrm>
            <a:off x="4236720" y="4574549"/>
            <a:ext cx="3535680" cy="1491469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5CF55121-D451-E3F9-6868-C13DE9DF3034}"/>
              </a:ext>
            </a:extLst>
          </p:cNvPr>
          <p:cNvSpPr/>
          <p:nvPr/>
        </p:nvSpPr>
        <p:spPr>
          <a:xfrm>
            <a:off x="4373880" y="4693421"/>
            <a:ext cx="3383280" cy="300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 Quality</a:t>
            </a:r>
            <a:endParaRPr lang="en-US" sz="12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1408E0A4-2A73-FF55-032E-3A50ECA9E7EB}"/>
              </a:ext>
            </a:extLst>
          </p:cNvPr>
          <p:cNvSpPr/>
          <p:nvPr/>
        </p:nvSpPr>
        <p:spPr>
          <a:xfrm>
            <a:off x="4373880" y="5077469"/>
            <a:ext cx="3383280" cy="98854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 automated tests pass, 14/14 issues closed — ReMindRAG reproducibility audit.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Business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licensing with implementation and analytics expansion.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657600" cy="4800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PLATFORM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127248"/>
            <a:ext cx="338328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rerouting intelligence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safety-compliance guardrails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dispatcher interface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Snowflake-native deployment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371600"/>
            <a:ext cx="3657600" cy="4800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417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1691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8056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2670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Services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3127248"/>
            <a:ext cx="338328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onboarding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and ERP integration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training on fleet data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 support
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1371600"/>
            <a:ext cx="3657600" cy="4800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0" y="1691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$$$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41248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2670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Modules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0" y="301752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58200" y="3127248"/>
            <a:ext cx="338328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9-tool multi-agent analytics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profitability analysis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maintenance insights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optimization reporting
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 Model  •  9-Tool Multi-Agent Analytics from Week 6 Prototype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Our Team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combines data engineering, modeling, and product delivery ownership.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383280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74520" y="15087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452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Joel Vinas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engineering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pipelines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architecture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3108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Bronze/Silver/Gold Medallion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1371600"/>
            <a:ext cx="3383280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5000" y="15087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Daniel Evans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weather integration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delivery &amp; UI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support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+ NOAA Integration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1371600"/>
            <a:ext cx="3383280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55480" y="15087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5548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2104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Tony Nguyen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architecture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S3/Snowflake orchestration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controls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ReMindRAG Repro Audit 17/17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6126480"/>
            <a:ext cx="114300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contribution: 33.3% each  •  Full-stack coverage: Ingestion to Deployment to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Next Steps &amp; Vision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evaluation hardening, enterprise controls, and rollout scaling.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56616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HARDENING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35661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2918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metamorphic eval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benchmark reporting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all test items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queries + 5 metamorphic pairs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83080" y="576072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3080" y="5760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97680" y="1371600"/>
            <a:ext cx="356616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2148840"/>
            <a:ext cx="35661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34840" y="2286000"/>
            <a:ext cx="32918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100 examples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RBAC controls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workflow fit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deployment footprint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0" y="5760720"/>
            <a:ext cx="685800" cy="685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0" y="5760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0" y="1371600"/>
            <a:ext cx="35661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2104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ROLLOUT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0" y="2148840"/>
            <a:ext cx="35661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2286000"/>
            <a:ext cx="32918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fleet onboarding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carrier partnerships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as default rerouting layer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Middle-mile industry standard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46920" y="576072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46920" y="5760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931920" y="6099048"/>
            <a:ext cx="5029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63840" y="6099048"/>
            <a:ext cx="5029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EVN as the default explainable rerouting layer for middle-mile operations where safety and trust are non-negotiable.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1022</Words>
  <Application>Microsoft Office PowerPoint</Application>
  <PresentationFormat>Widescreen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tmnc62</cp:lastModifiedBy>
  <cp:revision>2</cp:revision>
  <dcterms:created xsi:type="dcterms:W3CDTF">2026-03-16T06:06:56Z</dcterms:created>
  <dcterms:modified xsi:type="dcterms:W3CDTF">2026-03-16T17:53:21Z</dcterms:modified>
</cp:coreProperties>
</file>